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6407" y="693847"/>
            <a:ext cx="276515" cy="27651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047" y="693847"/>
            <a:ext cx="276515" cy="27651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78992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3687" y="693847"/>
            <a:ext cx="276515" cy="27651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008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22B"/>
                </a:solidFill>
              </a:rPr>
              <a:t>NIGERIA TARIFF POLICY, 2023-2025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94360" y="26974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Tariffs Without a Strategy</a:t>
            </a:r>
            <a:endParaRPr lang="en-US" sz="4400" dirty="0"/>
          </a:p>
        </p:txBody>
      </p:sp>
      <p:sp>
        <p:nvSpPr>
          <p:cNvPr id="10" name="Text 5"/>
          <p:cNvSpPr/>
          <p:nvPr/>
        </p:nvSpPr>
        <p:spPr>
          <a:xfrm>
            <a:off x="640080" y="39776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3E0"/>
                </a:solidFill>
              </a:rPr>
              <a:t>Three sectors, three outcomes: refined petroleum, automobiles, and rice under Nigeria's tariff regime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6A3"/>
                </a:solidFill>
              </a:rPr>
              <a:t>Comparative case study  •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GOVERNING THOUGHT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level doesn't predict import-substitution outcome. A credible domestic supply response does.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240280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" y="23362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Refined petroleum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~0.5% tariff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Fastest substitution, driven by Dangote Refinery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33629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2628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Automobiles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2628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</a:rPr>
              <a:t>35-40% tariff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2628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Heavy protection, only 29.0% aggregate capacity utilization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816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40280"/>
            <a:ext cx="685800" cy="685800"/>
          </a:xfrm>
          <a:prstGeom prst="ellipse">
            <a:avLst/>
          </a:prstGeom>
          <a:solidFill>
            <a:srgbClr val="3F7A5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336292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6676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Rice / agriculture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6676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7A5E"/>
                </a:solidFill>
              </a:rPr>
              <a:t>70% tariff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36676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Heaviest wall, most persistent leakage, and the top-smuggled commodity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The variable that predicts outcomes isn't the tariff line. It's whether a credible domestic supply response exists behind it.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SECTOR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policy tools, three different results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329184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3840480"/>
                <a:gridCol w="34747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Sector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Effective tariff (2025)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Primary policy tool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Refined petroleum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~0.5%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Signaling: an approved-then-suspended duty, import license halts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Fastest import substitution, driven by Dangote Refinery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Automobiles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35-40%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Sustained tariff differential (fully-built vs. CKD/SKD)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Protection without competitiveness: 29.0% aggregate utilization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Rice / agriculture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70%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Sustained high tariff plus intermittent bans and waivers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Heaviest wall, most persistent leakage, top-smuggled commodity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Full sourcing: data/raw/{petroleum,automobiles,rice}/sources.md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B2A4A"/>
                </a:solidFill>
              </a:rPr>
              <a:t>CASE I · REFINED PETROLEUM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tariff, fastest substitution. Dangote Refinery is doing what policy didn't.</a:t>
            </a:r>
            <a:endParaRPr lang="en-US" sz="2500" dirty="0"/>
          </a:p>
        </p:txBody>
      </p:sp>
      <p:pic>
        <p:nvPicPr>
          <p:cNvPr id="4" name="Image 0" descr="C:\Users\HP\nigeria-tariff-research\outputs\charts\petroleum_pms_import_value_annu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2880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1920240"/>
            <a:ext cx="4069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Petrol import bill fell 42% in 2025 (₦15.42tn to ₦8.96tn) as Dangote reached ~85% utilization of its 650,000 bpd refinery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The only dedicated petroleum tariff of the period, a 15% duty, was approved 21 Oct 2025 and suspended 13 Nov 2025, before ever taking effect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2024's naira-value spike (+105%) is mostly a currency story. The naira depreciated 40.9% that year.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NBS Foreign Trade Statistics via Nairametrics/Businessday/Daily Trust, 2025-2026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B2A4A"/>
                </a:solidFill>
              </a:rPr>
              <a:t>CASE I · REFINED PETROLEUM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substitution mechanism is real, but institutionally fragile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82M barrels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allocated to Dangote Oct 2024-Oct 2025 under the naira-for-crude deal, 60% naira-denominated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3 weeks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how long the Oct 2025 15% import duty survived before being suspended amid industry pushback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~79.5M barrel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41248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reported NNPC supply shortfall to Dangote, Oct 2025-mid 2026. Dangote also has an active lawsuit disputing import-license enforcement.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822B"/>
                </a:solidFill>
              </a:rPr>
              <a:t>Read this as a genuine structural shift with governance that's still catching up.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Nairametrics, Punch, ICIR Nigeria, Authority News, 2025-2026. See data/raw/petroleum/sources.md.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CASE II · AUTOMOBILES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textbook tariff wall (0-40%) that hasn't produced scale</a:t>
            </a:r>
            <a:endParaRPr lang="en-US" sz="2500" dirty="0"/>
          </a:p>
        </p:txBody>
      </p:sp>
      <p:pic>
        <p:nvPicPr>
          <p:cNvPr id="4" name="Image 0" descr="C:\Users\HP\nigeria-tariff-research\outputs\charts\automobiles_tariff_differenti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74520"/>
            <a:ext cx="5394960" cy="4434840"/>
          </a:xfrm>
          <a:prstGeom prst="rect">
            <a:avLst/>
          </a:prstGeom>
        </p:spPr>
      </p:pic>
      <p:pic>
        <p:nvPicPr>
          <p:cNvPr id="5" name="Image 1" descr="C:\Users\HP\nigeria-tariff-research\outputs\charts\automobiles_naddc_utiliz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1691640"/>
            <a:ext cx="5715000" cy="4709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trade.gov Nigeria Import Tariffs; NADDC, April 2024. Aggregate utilization verified at 29.0% (93,950 / 323,650 units/year).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CASE II · AUTOMOBILES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has never had the force of law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005840" cy="100584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2198218"/>
            <a:ext cx="724205" cy="7242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87452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The revised NAIDP was approved by Federal Executive Council in May 2023. That's an executive plan, not a statute.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The original NAIDP's ten-year statutory term lapsed in 2024. A successor 2024-2034 framework still awaited legal drafting as of March 2025.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As of October 2025, stakeholders, including NADDC's own Director-General, were still demanding passage of a “NAIDP Bill”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20 of 58 historically licensed assemblers had suspended operations by March 2025 (~$89.6M in stranded investment)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1B2A4A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23774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“Nobody wants to commit serious capital to the auto industry without adequate laws to protect their investments.”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4206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C"/>
                </a:solidFill>
              </a:rPr>
              <a:t>Joseph Osanipin, NADDC Director-General, Oct 2025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The Guardian Nigeria, 27 Mar 2025; Vanguard, 10 Oct 2025. See data/raw/automobiles/sources.md.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7A5E"/>
                </a:solidFill>
              </a:rPr>
              <a:t>CASE III · RICE / AGRICULTURE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heaviest tariff, and the most persistent leakage</a:t>
            </a:r>
            <a:endParaRPr lang="en-US" sz="2500" dirty="0"/>
          </a:p>
        </p:txBody>
      </p:sp>
      <p:pic>
        <p:nvPicPr>
          <p:cNvPr id="4" name="Image 0" descr="C:\Users\HP\nigeria-tariff-research\outputs\charts\rice_production_vs_impo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2880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1920240"/>
            <a:ext cx="4069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70% combined duty and levy: among the heaviest in Nigeria's tariff schedule, roughly stable since 2013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Rice was the single most-smuggled commodity through Nigerian Customs in Q1 2025: 159 cases, 135,474 bags, ₦939M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The 2019 land-border closure remains only partially reversed. Rice stayed formally banned even after the Dec 2020 reopening.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USDA FAS Grain and Feed Annual, 13 Mar 2024; PRNigeria, 24 Apr 2025. See data/raw/rice/sources.md.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level runs inversely to substitution outcome across all 3 sectors</a:t>
            </a:r>
            <a:endParaRPr lang="en-US" sz="2500" dirty="0"/>
          </a:p>
        </p:txBody>
      </p:sp>
      <p:pic>
        <p:nvPicPr>
          <p:cNvPr id="4" name="Image 0" descr="C:\Users\HP\nigeria-tariff-research\outputs\charts\sector_comparison_effective_tari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31720" y="1783080"/>
            <a:ext cx="749808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see data/raw/{petroleum,automobiles,rice}/sources.md for underlying citations.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axis predicts substitution. The horizontal one doesn't.</a:t>
            </a:r>
            <a:endParaRPr lang="en-US" sz="2500" dirty="0"/>
          </a:p>
        </p:txBody>
      </p:sp>
      <p:pic>
        <p:nvPicPr>
          <p:cNvPr id="4" name="Image 0" descr="C:\Users\HP\nigeria-tariff-research\outputs\charts\framework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48840" y="1691640"/>
            <a:ext cx="786384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Credibility positioning is qualitative, grounded in the evidence in Sections 4-9. Automobiles plotted at the midpoint of its 35-40% range.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7A5E"/>
                </a:solidFill>
              </a:rPr>
              <a:t>THE AFCFTA QUESTION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without a clear test. Well-evidenced only for rice.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914400" cy="914400"/>
          </a:xfrm>
          <a:prstGeom prst="ellipse">
            <a:avLst/>
          </a:prstGeom>
          <a:solidFill>
            <a:srgbClr val="3F7A5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13969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7A5E"/>
                </a:solidFill>
              </a:rPr>
              <a:t>Clear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828800" y="237744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9"/>
                </a:solidFill>
              </a:rPr>
              <a:t>Rice sits on Nigeria's AfCFTA exclusion or long-timeline “sensitive” list, alongside flour, sugar, and cement. That's consistent with decades of food-security-driven protection.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92240" y="2011680"/>
            <a:ext cx="914400" cy="914400"/>
          </a:xfrm>
          <a:prstGeom prst="ellipse">
            <a:avLst/>
          </a:prstGeom>
          <a:solidFill>
            <a:srgbClr val="8C96A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2139696"/>
            <a:ext cx="658368" cy="6583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72400" y="1965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C96A3"/>
                </a:solidFill>
              </a:rPr>
              <a:t>Important non-finding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0" y="2377440"/>
            <a:ext cx="39319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9"/>
                </a:solidFill>
              </a:rPr>
              <a:t>No source, primary or secondary, states where refined petroleum or automobiles sit on Nigeria's AfCFTA schedule. A clean 3-sector AfCFTA comparison can't be made with confidence.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3977640"/>
            <a:ext cx="11247120" cy="0"/>
          </a:xfrm>
          <a:prstGeom prst="line">
            <a:avLst/>
          </a:prstGeom>
          <a:noFill/>
          <a:ln w="12700">
            <a:solidFill>
              <a:srgbClr val="E2E5E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</a:rPr>
              <a:t>Nigeria gazetted its AfCFTA tariff schedule only in 2025, six years after signing. Within the 2023-2025 window, unilateral tools (subsidy policy, import bans, forex allocation) are doing far more work shaping sector outcomes than AfCFTA commitments.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Boysen (2024), The World Economy; WTO Trade Policy Review, Nigeria, Nov 2024; ITRC, 16 Apr 2025. See data/raw/afcfta/sources.md.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 for reading Nigeria as a market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" y="23362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Don't read tariff schedules as a proxy for policy seriousness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The sector with almost no tariff is undergoing the most real structural change. The sector with the highest tariff has the weakest enforcement outcome.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336292"/>
            <a:ext cx="493776" cy="4937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4340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Look for a scaled domestic supply response as the leading indicator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4340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A single, well-capitalized asset (Dangote) displaced more imports in 18 months than a decade of auto tariffs achieved for local assembly.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41248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336292"/>
            <a:ext cx="493776" cy="4937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388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Treat AfCFTA as immature through 2025-2026, not decisive yet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18388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The schedule was only gazetted in 2025. Nigeria's unilateral tools remain the dominant lever for sector-level forecasting on this horizon.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C96A3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sourcing and underlying data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914400" cy="914400"/>
          </a:xfrm>
          <a:prstGeom prst="ellipse">
            <a:avLst/>
          </a:prstGeom>
          <a:solidFill>
            <a:srgbClr val="8C96A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23113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2103120"/>
            <a:ext cx="93268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Raw research notes &amp; full citations:  data/raw/{petroleum,automobiles,rice,afcfta}/{notes.md,sources.md}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Structured datasets:  data/processed/*.csv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Analysis &amp; chart-generation code:  models/{petroleum,automobiles,rice,sector_comparison}_analysis.py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Full paper and investment memo:  paper/nigeria-tariff-policy-paper.md, memo/nigeria-tariff-investment-memo.md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Every figure in this deck traces to a named, dated source. Where sources conflicted, both figures are presented. See appendix notes in the paper.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Tariffs Without a Strategy</dc:title>
  <dc:subject>PptxGenJS Presentation</dc:subject>
  <dc:creator>Nigeria Tariff Research</dc:creator>
  <cp:lastModifiedBy>Nigeria Tariff Research</cp:lastModifiedBy>
  <cp:revision>1</cp:revision>
  <dcterms:created xsi:type="dcterms:W3CDTF">2026-07-13T12:20:25Z</dcterms:created>
  <dcterms:modified xsi:type="dcterms:W3CDTF">2026-07-13T12:20:25Z</dcterms:modified>
</cp:coreProperties>
</file>