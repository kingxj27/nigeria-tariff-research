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640080"/>
            <a:ext cx="384048" cy="384048"/>
          </a:xfrm>
          <a:prstGeom prst="ellipse">
            <a:avLst/>
          </a:prstGeom>
          <a:solidFill>
            <a:srgbClr val="24365C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46407" y="693847"/>
            <a:ext cx="276515" cy="276515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10241280" y="640080"/>
            <a:ext cx="384048" cy="384048"/>
          </a:xfrm>
          <a:prstGeom prst="ellipse">
            <a:avLst/>
          </a:prstGeom>
          <a:solidFill>
            <a:srgbClr val="24365C"/>
          </a:solidFill>
          <a:ln/>
        </p:spPr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95047" y="693847"/>
            <a:ext cx="276515" cy="276515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10789920" y="640080"/>
            <a:ext cx="384048" cy="384048"/>
          </a:xfrm>
          <a:prstGeom prst="ellipse">
            <a:avLst/>
          </a:prstGeom>
          <a:solidFill>
            <a:srgbClr val="24365C"/>
          </a:solidFill>
          <a:ln/>
        </p:spPr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43687" y="693847"/>
            <a:ext cx="276515" cy="276515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640080" y="233172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D9822B"/>
                </a:solidFill>
              </a:rPr>
              <a:t>NIGERIA TARIFF POLICY, 2023-2025</a:t>
            </a:r>
            <a:endParaRPr lang="en-US" sz="1400" dirty="0"/>
          </a:p>
        </p:txBody>
      </p:sp>
      <p:sp>
        <p:nvSpPr>
          <p:cNvPr id="9" name="Text 4"/>
          <p:cNvSpPr/>
          <p:nvPr/>
        </p:nvSpPr>
        <p:spPr>
          <a:xfrm>
            <a:off x="594360" y="2697480"/>
            <a:ext cx="10972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Tariffs Without a Strategy</a:t>
            </a:r>
            <a:endParaRPr lang="en-US" sz="4400" dirty="0"/>
          </a:p>
        </p:txBody>
      </p:sp>
      <p:sp>
        <p:nvSpPr>
          <p:cNvPr id="10" name="Text 5"/>
          <p:cNvSpPr/>
          <p:nvPr/>
        </p:nvSpPr>
        <p:spPr>
          <a:xfrm>
            <a:off x="640080" y="3977640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CBD3E0"/>
                </a:solidFill>
              </a:rPr>
              <a:t>Three sectors, three outcomes: refined petroleum, automobiles, and rice under Nigeria's tariff regime</a:t>
            </a:r>
            <a:endParaRPr lang="en-US" sz="1600" dirty="0"/>
          </a:p>
        </p:txBody>
      </p:sp>
      <p:sp>
        <p:nvSpPr>
          <p:cNvPr id="11" name="Text 6"/>
          <p:cNvSpPr/>
          <p:nvPr/>
        </p:nvSpPr>
        <p:spPr>
          <a:xfrm>
            <a:off x="640080" y="6126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C96A3"/>
                </a:solidFill>
              </a:rPr>
              <a:t>Comparative case study  •  July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D9822B"/>
                </a:solidFill>
              </a:rPr>
              <a:t>GOVERNING THOUGHT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94944"/>
            <a:ext cx="11247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Tariff level doesn't predict import-substitution outcome. A credible domestic supply response does.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457200" y="1920240"/>
            <a:ext cx="3520440" cy="3200400"/>
          </a:xfrm>
          <a:prstGeom prst="roundRect">
            <a:avLst>
              <a:gd name="adj" fmla="val 2286"/>
            </a:avLst>
          </a:prstGeom>
          <a:solidFill>
            <a:srgbClr val="F2F4F7"/>
          </a:solidFill>
          <a:ln/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2240280"/>
            <a:ext cx="685800" cy="685800"/>
          </a:xfrm>
          <a:prstGeom prst="ellipse">
            <a:avLst/>
          </a:prstGeom>
          <a:solidFill>
            <a:srgbClr val="1B2A4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7532" y="2336292"/>
            <a:ext cx="493776" cy="49377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85800" y="3108960"/>
            <a:ext cx="3063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4A"/>
                </a:solidFill>
              </a:rPr>
              <a:t>Refined petroleum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685800" y="3611880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B2A4A"/>
                </a:solidFill>
              </a:rPr>
              <a:t>~0.5% tariff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685800" y="4114800"/>
            <a:ext cx="3063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D4759"/>
                </a:solidFill>
              </a:rPr>
              <a:t>Fastest substitution, driven by Dangote Refinery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4297680" y="1920240"/>
            <a:ext cx="3520440" cy="3200400"/>
          </a:xfrm>
          <a:prstGeom prst="roundRect">
            <a:avLst>
              <a:gd name="adj" fmla="val 2286"/>
            </a:avLst>
          </a:prstGeom>
          <a:solidFill>
            <a:srgbClr val="F2F4F7"/>
          </a:solidFill>
          <a:ln/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572000" y="2240280"/>
            <a:ext cx="685800" cy="685800"/>
          </a:xfrm>
          <a:prstGeom prst="ellipse">
            <a:avLst/>
          </a:prstGeom>
          <a:solidFill>
            <a:srgbClr val="D9822B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8012" y="2336292"/>
            <a:ext cx="493776" cy="493776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526280" y="3108960"/>
            <a:ext cx="3063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4A"/>
                </a:solidFill>
              </a:rPr>
              <a:t>Automobiles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4526280" y="3611880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D9822B"/>
                </a:solidFill>
              </a:rPr>
              <a:t>35-40% tariff</a:t>
            </a:r>
            <a:endParaRPr lang="en-US" sz="2000" dirty="0"/>
          </a:p>
        </p:txBody>
      </p:sp>
      <p:sp>
        <p:nvSpPr>
          <p:cNvPr id="15" name="Text 11"/>
          <p:cNvSpPr/>
          <p:nvPr/>
        </p:nvSpPr>
        <p:spPr>
          <a:xfrm>
            <a:off x="4526280" y="4114800"/>
            <a:ext cx="3063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D4759"/>
                </a:solidFill>
              </a:rPr>
              <a:t>Heavy protection, only 29.0% aggregate capacity utilization</a:t>
            </a:r>
            <a:endParaRPr lang="en-US" sz="1250" dirty="0"/>
          </a:p>
        </p:txBody>
      </p:sp>
      <p:sp>
        <p:nvSpPr>
          <p:cNvPr id="16" name="Shape 12"/>
          <p:cNvSpPr/>
          <p:nvPr/>
        </p:nvSpPr>
        <p:spPr>
          <a:xfrm>
            <a:off x="8138160" y="1920240"/>
            <a:ext cx="3520440" cy="3200400"/>
          </a:xfrm>
          <a:prstGeom prst="roundRect">
            <a:avLst>
              <a:gd name="adj" fmla="val 2286"/>
            </a:avLst>
          </a:prstGeom>
          <a:solidFill>
            <a:srgbClr val="F2F4F7"/>
          </a:solidFill>
          <a:ln/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8412480" y="2240280"/>
            <a:ext cx="685800" cy="685800"/>
          </a:xfrm>
          <a:prstGeom prst="ellipse">
            <a:avLst/>
          </a:prstGeom>
          <a:solidFill>
            <a:srgbClr val="3F7A5E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8492" y="2336292"/>
            <a:ext cx="493776" cy="493776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366760" y="3108960"/>
            <a:ext cx="3063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4A"/>
                </a:solidFill>
              </a:rPr>
              <a:t>Rice / agriculture</a:t>
            </a:r>
            <a:endParaRPr lang="en-US" sz="1600" dirty="0"/>
          </a:p>
        </p:txBody>
      </p:sp>
      <p:sp>
        <p:nvSpPr>
          <p:cNvPr id="20" name="Text 15"/>
          <p:cNvSpPr/>
          <p:nvPr/>
        </p:nvSpPr>
        <p:spPr>
          <a:xfrm>
            <a:off x="8366760" y="3611880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F7A5E"/>
                </a:solidFill>
              </a:rPr>
              <a:t>70% tariff</a:t>
            </a:r>
            <a:endParaRPr lang="en-US" sz="2000" dirty="0"/>
          </a:p>
        </p:txBody>
      </p:sp>
      <p:sp>
        <p:nvSpPr>
          <p:cNvPr id="21" name="Text 16"/>
          <p:cNvSpPr/>
          <p:nvPr/>
        </p:nvSpPr>
        <p:spPr>
          <a:xfrm>
            <a:off x="8366760" y="4114800"/>
            <a:ext cx="3063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D4759"/>
                </a:solidFill>
              </a:rPr>
              <a:t>Heaviest wall, most persistent leakage, and the top-smuggled commodity</a:t>
            </a:r>
            <a:endParaRPr lang="en-US" sz="1250" dirty="0"/>
          </a:p>
        </p:txBody>
      </p:sp>
      <p:sp>
        <p:nvSpPr>
          <p:cNvPr id="22" name="Text 17"/>
          <p:cNvSpPr/>
          <p:nvPr/>
        </p:nvSpPr>
        <p:spPr>
          <a:xfrm>
            <a:off x="457200" y="644652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8C96A3"/>
                </a:solidFill>
              </a:rPr>
              <a:t>The variable that predicts outcomes isn't the tariff line. It's whether a credible domestic supply response exists behind it.</a:t>
            </a:r>
            <a:endParaRPr lang="en-US" sz="800" dirty="0"/>
          </a:p>
        </p:txBody>
      </p:sp>
      <p:sp>
        <p:nvSpPr>
          <p:cNvPr id="23" name="Text 18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96A3"/>
                </a:solidFill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D9822B"/>
                </a:solidFill>
              </a:rPr>
              <a:t>SECTOR COMPARISON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94944"/>
            <a:ext cx="11247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different policy tools, three different results</a:t>
            </a:r>
            <a:endParaRPr lang="en-US" sz="25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965960"/>
          <a:ext cx="11247120" cy="3291840"/>
        </p:xfrm>
        <a:graphic>
          <a:graphicData uri="http://schemas.openxmlformats.org/drawingml/2006/table">
            <a:tbl>
              <a:tblPr/>
              <a:tblGrid>
                <a:gridCol w="2194560"/>
                <a:gridCol w="1737360"/>
                <a:gridCol w="3840480"/>
                <a:gridCol w="3474720"/>
              </a:tblGrid>
              <a:tr h="8229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Sector</a:t>
                      </a:r>
                      <a:endParaRPr lang="en-US" sz="1300" dirty="0"/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Effective tariff (2025)</a:t>
                      </a:r>
                      <a:endParaRPr lang="en-US" sz="1300" dirty="0"/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Primary policy tool</a:t>
                      </a:r>
                      <a:endParaRPr lang="en-US" sz="1300" dirty="0"/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Outcome</a:t>
                      </a:r>
                      <a:endParaRPr lang="en-US" sz="1300" dirty="0"/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B2A4A"/>
                          </a:solidFill>
                        </a:rPr>
                        <a:t>Refined petroleum</a:t>
                      </a:r>
                      <a:endParaRPr lang="en-US" sz="1250" dirty="0"/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</a:rPr>
                        <a:t>~0.5%</a:t>
                      </a:r>
                      <a:endParaRPr lang="en-US" sz="1250" dirty="0"/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</a:rPr>
                        <a:t>Signaling: an approved-then-suspended duty, import license halts</a:t>
                      </a:r>
                      <a:endParaRPr lang="en-US" sz="1250" dirty="0"/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</a:rPr>
                        <a:t>Fastest import substitution, driven by Dangote Refinery</a:t>
                      </a:r>
                      <a:endParaRPr lang="en-US" sz="1250" dirty="0"/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B2A4A"/>
                          </a:solidFill>
                        </a:rPr>
                        <a:t>Automobiles</a:t>
                      </a:r>
                      <a:endParaRPr lang="en-US" sz="1250" dirty="0"/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</a:rPr>
                        <a:t>35-40%</a:t>
                      </a:r>
                      <a:endParaRPr lang="en-US" sz="1250" dirty="0"/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</a:rPr>
                        <a:t>Sustained tariff differential (fully-built vs. CKD/SKD)</a:t>
                      </a:r>
                      <a:endParaRPr lang="en-US" sz="1250" dirty="0"/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</a:rPr>
                        <a:t>Protection without competitiveness: 29.0% aggregate utilization</a:t>
                      </a:r>
                      <a:endParaRPr lang="en-US" sz="1250" dirty="0"/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B2A4A"/>
                          </a:solidFill>
                        </a:rPr>
                        <a:t>Rice / agriculture</a:t>
                      </a:r>
                      <a:endParaRPr lang="en-US" sz="1250" dirty="0"/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</a:rPr>
                        <a:t>70%</a:t>
                      </a:r>
                      <a:endParaRPr lang="en-US" sz="1250" dirty="0"/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</a:rPr>
                        <a:t>Sustained high tariff plus intermittent bans and waivers</a:t>
                      </a:r>
                      <a:endParaRPr lang="en-US" sz="1250" dirty="0"/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</a:rPr>
                        <a:t>Heaviest wall, most persistent leakage, top-smuggled commodity</a:t>
                      </a:r>
                      <a:endParaRPr lang="en-US" sz="1250" dirty="0"/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644652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8C96A3"/>
                </a:solidFill>
              </a:rPr>
              <a:t>Full sourcing: data/raw/{petroleum,automobiles,rice}/sources.md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96A3"/>
                </a:solidFill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B2A4A"/>
                </a:solidFill>
              </a:rPr>
              <a:t>CASE I · REFINED PETROLEUM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94944"/>
            <a:ext cx="11247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Near-zero tariff, fastest substitution. Dangote Refinery is doing what policy didn't.</a:t>
            </a:r>
            <a:endParaRPr lang="en-US" sz="2500" dirty="0"/>
          </a:p>
        </p:txBody>
      </p:sp>
      <p:pic>
        <p:nvPicPr>
          <p:cNvPr id="4" name="Image 0" descr="C:\Users\HP\nigeria-tariff-research\outputs\charts\petroleum_pms_import_value_annual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" y="1828800"/>
            <a:ext cx="6949440" cy="44805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635240" y="1920240"/>
            <a:ext cx="406908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300" dirty="0">
                <a:solidFill>
                  <a:srgbClr val="3D4759"/>
                </a:solidFill>
              </a:rPr>
              <a:t>Petrol import bill fell 42% in 2025 (₦15.42tn to ₦8.96tn) as Dangote reached ~85% utilization of its 650,000 bpd refinery</a:t>
            </a:r>
            <a:endParaRPr lang="en-US" sz="13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300" dirty="0">
                <a:solidFill>
                  <a:srgbClr val="3D4759"/>
                </a:solidFill>
              </a:rPr>
              <a:t>The only dedicated petroleum tariff of the period, a 15% duty, was approved 21 Oct 2025 and suspended 13 Nov 2025, before ever taking effect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D4759"/>
                </a:solidFill>
              </a:rPr>
              <a:t>2024's naira-value spike (+105%) is mostly a currency story. The naira depreciated 40.9% that year.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457200" y="644652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8C96A3"/>
                </a:solidFill>
              </a:rPr>
              <a:t>Source: NBS Foreign Trade Statistics via Nairametrics/Businessday/Daily Trust, 2025-2026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96A3"/>
                </a:solidFill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B2A4A"/>
                </a:solidFill>
              </a:rPr>
              <a:t>CASE I · REFINED PETROLEUM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94944"/>
            <a:ext cx="11247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substitution mechanism is real, but institutionally fragile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457200" y="2011680"/>
            <a:ext cx="3520440" cy="3017520"/>
          </a:xfrm>
          <a:prstGeom prst="roundRect">
            <a:avLst>
              <a:gd name="adj" fmla="val 2424"/>
            </a:avLst>
          </a:prstGeom>
          <a:solidFill>
            <a:srgbClr val="F2F4F7"/>
          </a:solidFill>
          <a:ln/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31520" y="2331720"/>
            <a:ext cx="2971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</a:rPr>
              <a:t>82M barrels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731520" y="3200400"/>
            <a:ext cx="29718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D4759"/>
                </a:solidFill>
              </a:rPr>
              <a:t>allocated to Dangote Oct 2024-Oct 2025 under the naira-for-crude deal, 60% naira-denominated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297680" y="2011680"/>
            <a:ext cx="3520440" cy="3017520"/>
          </a:xfrm>
          <a:prstGeom prst="roundRect">
            <a:avLst>
              <a:gd name="adj" fmla="val 2424"/>
            </a:avLst>
          </a:prstGeom>
          <a:solidFill>
            <a:srgbClr val="F2F4F7"/>
          </a:solidFill>
          <a:ln/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572000" y="2331720"/>
            <a:ext cx="2971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</a:rPr>
              <a:t>3 weeks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4572000" y="3200400"/>
            <a:ext cx="29718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D4759"/>
                </a:solidFill>
              </a:rPr>
              <a:t>how long the Oct 2025 15% import duty survived before being suspended amid industry pushback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8138160" y="2011680"/>
            <a:ext cx="3520440" cy="3017520"/>
          </a:xfrm>
          <a:prstGeom prst="roundRect">
            <a:avLst>
              <a:gd name="adj" fmla="val 2424"/>
            </a:avLst>
          </a:prstGeom>
          <a:solidFill>
            <a:srgbClr val="F2F4F7"/>
          </a:solidFill>
          <a:ln/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8412480" y="2331720"/>
            <a:ext cx="2971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</a:rPr>
              <a:t>~79.5M barrel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8412480" y="3200400"/>
            <a:ext cx="29718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D4759"/>
                </a:solidFill>
              </a:rPr>
              <a:t>reported NNPC supply shortfall to Dangote, Oct 2025-mid 2026. Dangote also has an active lawsuit disputing import-license enforcement.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457200" y="525780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D9822B"/>
                </a:solidFill>
              </a:rPr>
              <a:t>Read this as a genuine structural shift with governance that's still catching up.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57200" y="644652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8C96A3"/>
                </a:solidFill>
              </a:rPr>
              <a:t>Sources: Nairametrics, Punch, ICIR Nigeria, Authority News, 2025-2026. See data/raw/petroleum/sources.md.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96A3"/>
                </a:solidFill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D9822B"/>
                </a:solidFill>
              </a:rPr>
              <a:t>CASE II · AUTOMOBILES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94944"/>
            <a:ext cx="11247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textbook tariff wall (0-40%) that hasn't produced scale</a:t>
            </a:r>
            <a:endParaRPr lang="en-US" sz="2500" dirty="0"/>
          </a:p>
        </p:txBody>
      </p:sp>
      <p:pic>
        <p:nvPicPr>
          <p:cNvPr id="4" name="Image 0" descr="C:\Users\HP\nigeria-tariff-research\outputs\charts\automobiles_tariff_differential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65760" y="1874520"/>
            <a:ext cx="5394960" cy="4434840"/>
          </a:xfrm>
          <a:prstGeom prst="rect">
            <a:avLst/>
          </a:prstGeom>
        </p:spPr>
      </p:pic>
      <p:pic>
        <p:nvPicPr>
          <p:cNvPr id="5" name="Image 1" descr="C:\Users\HP\nigeria-tariff-research\outputs\charts\automobiles_naddc_utilization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5989320" y="1691640"/>
            <a:ext cx="5715000" cy="470916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457200" y="644652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8C96A3"/>
                </a:solidFill>
              </a:rPr>
              <a:t>Source: trade.gov Nigeria Import Tariffs; NADDC, April 2024. Aggregate utilization verified at 29.0% (93,950 / 323,650 units/year).</a:t>
            </a:r>
            <a:endParaRPr lang="en-US" sz="800" dirty="0"/>
          </a:p>
        </p:txBody>
      </p:sp>
      <p:sp>
        <p:nvSpPr>
          <p:cNvPr id="7" name="Text 3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96A3"/>
                </a:solidFill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D9822B"/>
                </a:solidFill>
              </a:rPr>
              <a:t>CASE II · AUTOMOBILES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94944"/>
            <a:ext cx="11247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policy has never had the force of law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48640" y="2057400"/>
            <a:ext cx="1005840" cy="1005840"/>
          </a:xfrm>
          <a:prstGeom prst="ellipse">
            <a:avLst/>
          </a:prstGeom>
          <a:solidFill>
            <a:srgbClr val="D9822B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9458" y="2198218"/>
            <a:ext cx="724205" cy="724205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874520" y="1874520"/>
            <a:ext cx="603504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1450" dirty="0">
                <a:solidFill>
                  <a:srgbClr val="3D4759"/>
                </a:solidFill>
              </a:rPr>
              <a:t>The revised NAIDP was approved by Federal Executive Council in May 2023. That's an executive plan, not a statute.</a:t>
            </a:r>
            <a:endParaRPr lang="en-US" sz="1450" dirty="0"/>
          </a:p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1450" dirty="0">
                <a:solidFill>
                  <a:srgbClr val="3D4759"/>
                </a:solidFill>
              </a:rPr>
              <a:t>The original NAIDP's ten-year statutory term lapsed in 2024. A successor 2024-2034 framework still awaited legal drafting as of March 2025.</a:t>
            </a:r>
            <a:endParaRPr lang="en-US" sz="1450" dirty="0"/>
          </a:p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1450" dirty="0">
                <a:solidFill>
                  <a:srgbClr val="3D4759"/>
                </a:solidFill>
              </a:rPr>
              <a:t>As of October 2025, stakeholders, including NADDC's own Director-General, were still demanding passage of a “NAIDP Bill”</a:t>
            </a:r>
            <a:endParaRPr lang="en-US" sz="1450" dirty="0"/>
          </a:p>
          <a:p>
            <a:pPr marL="342900" indent="-342900">
              <a:buSzPct val="100000"/>
              <a:buChar char="•"/>
            </a:pPr>
            <a:r>
              <a:rPr lang="en-US" sz="1450" dirty="0">
                <a:solidFill>
                  <a:srgbClr val="3D4759"/>
                </a:solidFill>
              </a:rPr>
              <a:t>20 of 58 historically licensed assemblers had suspended operations by March 2025 (~$89.6M in stranded investment)</a:t>
            </a:r>
            <a:endParaRPr lang="en-US" sz="1450" dirty="0"/>
          </a:p>
        </p:txBody>
      </p:sp>
      <p:sp>
        <p:nvSpPr>
          <p:cNvPr id="7" name="Shape 4"/>
          <p:cNvSpPr/>
          <p:nvPr/>
        </p:nvSpPr>
        <p:spPr>
          <a:xfrm>
            <a:off x="8229600" y="2103120"/>
            <a:ext cx="3474720" cy="2743200"/>
          </a:xfrm>
          <a:prstGeom prst="roundRect">
            <a:avLst>
              <a:gd name="adj" fmla="val 2667"/>
            </a:avLst>
          </a:prstGeom>
          <a:solidFill>
            <a:srgbClr val="1B2A4A"/>
          </a:solidFill>
          <a:ln/>
        </p:spPr>
      </p:sp>
      <p:sp>
        <p:nvSpPr>
          <p:cNvPr id="8" name="Text 5"/>
          <p:cNvSpPr/>
          <p:nvPr/>
        </p:nvSpPr>
        <p:spPr>
          <a:xfrm>
            <a:off x="8503920" y="2377440"/>
            <a:ext cx="292608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FFFFFF"/>
                </a:solidFill>
              </a:rPr>
              <a:t>“Nobody wants to commit serious capital to the auto industry without adequate laws to protect their investments.”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8503920" y="4206240"/>
            <a:ext cx="2926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FB0CC"/>
                </a:solidFill>
              </a:rPr>
              <a:t>Joseph Osanipin, NADDC Director-General, Oct 2025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457200" y="644652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8C96A3"/>
                </a:solidFill>
              </a:rPr>
              <a:t>Sources: The Guardian Nigeria, 27 Mar 2025; Vanguard, 10 Oct 2025. See data/raw/automobiles/sources.md.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96A3"/>
                </a:solidFill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3F7A5E"/>
                </a:solidFill>
              </a:rPr>
              <a:t>CASE III · RICE / AGRICULTURE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94944"/>
            <a:ext cx="11247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heaviest tariff, and the most persistent leakage</a:t>
            </a:r>
            <a:endParaRPr lang="en-US" sz="2500" dirty="0"/>
          </a:p>
        </p:txBody>
      </p:sp>
      <p:pic>
        <p:nvPicPr>
          <p:cNvPr id="4" name="Image 0" descr="C:\Users\HP\nigeria-tariff-research\outputs\charts\rice_production_vs_imports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" y="1828800"/>
            <a:ext cx="6949440" cy="44805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635240" y="1920240"/>
            <a:ext cx="406908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300" dirty="0">
                <a:solidFill>
                  <a:srgbClr val="3D4759"/>
                </a:solidFill>
              </a:rPr>
              <a:t>70% combined duty and levy: among the heaviest in Nigeria's tariff schedule, roughly stable since 2013</a:t>
            </a:r>
            <a:endParaRPr lang="en-US" sz="13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300" dirty="0">
                <a:solidFill>
                  <a:srgbClr val="3D4759"/>
                </a:solidFill>
              </a:rPr>
              <a:t>Rice was the single most-smuggled commodity through Nigerian Customs in Q1 2025: 159 cases, 135,474 bags, ₦939M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D4759"/>
                </a:solidFill>
              </a:rPr>
              <a:t>The 2019 land-border closure remains only partially reversed. Rice stayed formally banned even after the Dec 2020 reopening.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457200" y="644652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8C96A3"/>
                </a:solidFill>
              </a:rPr>
              <a:t>Sources: USDA FAS Grain and Feed Annual, 13 Mar 2024; PRNigeria, 24 Apr 2025. See data/raw/rice/sources.md.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96A3"/>
                </a:solidFill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D9822B"/>
                </a:solidFill>
              </a:rPr>
              <a:t>SYNTHESIS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94944"/>
            <a:ext cx="11247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Tariff level runs inversely to substitution outcome across all 3 sectors</a:t>
            </a:r>
            <a:endParaRPr lang="en-US" sz="2500" dirty="0"/>
          </a:p>
        </p:txBody>
      </p:sp>
      <p:pic>
        <p:nvPicPr>
          <p:cNvPr id="4" name="Image 0" descr="C:\Users\HP\nigeria-tariff-research\outputs\charts\sector_comparison_effective_tariff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331720" y="1783080"/>
            <a:ext cx="7498080" cy="42976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644652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8C96A3"/>
                </a:solidFill>
              </a:rPr>
              <a:t>Source: see data/raw/{petroleum,automobiles,rice}/sources.md for underlying citations.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96A3"/>
                </a:solidFill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3F7A5E"/>
                </a:solidFill>
              </a:rPr>
              <a:t>THE AFCFTA QUESTION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94944"/>
            <a:ext cx="11247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Commitment without a clear test. Well-evidenced only for rice.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914400" cy="914400"/>
          </a:xfrm>
          <a:prstGeom prst="ellipse">
            <a:avLst/>
          </a:prstGeom>
          <a:solidFill>
            <a:srgbClr val="3F7A5E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6656" y="2139696"/>
            <a:ext cx="658368" cy="65836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828800" y="196596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F7A5E"/>
                </a:solidFill>
              </a:rPr>
              <a:t>Clear finding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1828800" y="2377440"/>
            <a:ext cx="466344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D4759"/>
                </a:solidFill>
              </a:rPr>
              <a:t>Rice sits on Nigeria's AfCFTA exclusion or long-timeline “sensitive” list, alongside flour, sugar, and cement. That's consistent with decades of food-security-driven protection.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6492240" y="2011680"/>
            <a:ext cx="914400" cy="914400"/>
          </a:xfrm>
          <a:prstGeom prst="ellipse">
            <a:avLst/>
          </a:prstGeom>
          <a:solidFill>
            <a:srgbClr val="8C96A3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20256" y="2139696"/>
            <a:ext cx="658368" cy="65836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7772400" y="196596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8C96A3"/>
                </a:solidFill>
              </a:rPr>
              <a:t>Important non-finding</a:t>
            </a:r>
            <a:endParaRPr lang="en-US" sz="1500" dirty="0"/>
          </a:p>
        </p:txBody>
      </p:sp>
      <p:sp>
        <p:nvSpPr>
          <p:cNvPr id="11" name="Text 7"/>
          <p:cNvSpPr/>
          <p:nvPr/>
        </p:nvSpPr>
        <p:spPr>
          <a:xfrm>
            <a:off x="7772400" y="2377440"/>
            <a:ext cx="393192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D4759"/>
                </a:solidFill>
              </a:rPr>
              <a:t>No source, primary or secondary, states where refined petroleum or automobiles sit on Nigeria's AfCFTA schedule. A clean 3-sector AfCFTA comparison can't be made with confidence.</a:t>
            </a:r>
            <a:endParaRPr lang="en-US" sz="1300" dirty="0"/>
          </a:p>
        </p:txBody>
      </p:sp>
      <p:sp>
        <p:nvSpPr>
          <p:cNvPr id="12" name="Shape 8"/>
          <p:cNvSpPr/>
          <p:nvPr/>
        </p:nvSpPr>
        <p:spPr>
          <a:xfrm>
            <a:off x="457200" y="3977640"/>
            <a:ext cx="11247120" cy="0"/>
          </a:xfrm>
          <a:prstGeom prst="line">
            <a:avLst/>
          </a:prstGeom>
          <a:noFill/>
          <a:ln w="12700">
            <a:solidFill>
              <a:srgbClr val="E2E5EA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457200" y="4297680"/>
            <a:ext cx="1124712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rgbClr val="1B2A4A"/>
                </a:solidFill>
              </a:rPr>
              <a:t>Nigeria gazetted its AfCFTA tariff schedule only in 2025, six years after signing. Within the 2023-2025 window, unilateral tools (subsidy policy, import bans, forex allocation) are doing far more work shaping sector outcomes than AfCFTA commitments.</a:t>
            </a:r>
            <a:endParaRPr lang="en-US" sz="1500" dirty="0"/>
          </a:p>
        </p:txBody>
      </p:sp>
      <p:sp>
        <p:nvSpPr>
          <p:cNvPr id="14" name="Text 10"/>
          <p:cNvSpPr/>
          <p:nvPr/>
        </p:nvSpPr>
        <p:spPr>
          <a:xfrm>
            <a:off x="457200" y="644652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8C96A3"/>
                </a:solidFill>
              </a:rPr>
              <a:t>Sources: Boysen (2024), The World Economy; WTO Trade Policy Review, Nigeria, Nov 2024; ITRC, 16 Apr 2025. See data/raw/afcfta/sources.md.</a:t>
            </a:r>
            <a:endParaRPr lang="en-US" sz="800" dirty="0"/>
          </a:p>
        </p:txBody>
      </p:sp>
      <p:sp>
        <p:nvSpPr>
          <p:cNvPr id="15" name="Text 11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96A3"/>
                </a:solidFill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D9822B"/>
                </a:solidFill>
              </a:rPr>
              <a:t>IMPLICATIONS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takeaways for reading Nigeria as a market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731520" y="2240280"/>
            <a:ext cx="685800" cy="685800"/>
          </a:xfrm>
          <a:prstGeom prst="ellipse">
            <a:avLst/>
          </a:prstGeom>
          <a:solidFill>
            <a:srgbClr val="D9822B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7532" y="2336292"/>
            <a:ext cx="493776" cy="49377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02920" y="3108960"/>
            <a:ext cx="324612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</a:rPr>
              <a:t>Don't read tariff schedules as a proxy for policy seriousness</a:t>
            </a:r>
            <a:endParaRPr lang="en-US" sz="1450" dirty="0"/>
          </a:p>
        </p:txBody>
      </p:sp>
      <p:sp>
        <p:nvSpPr>
          <p:cNvPr id="7" name="Text 4"/>
          <p:cNvSpPr/>
          <p:nvPr/>
        </p:nvSpPr>
        <p:spPr>
          <a:xfrm>
            <a:off x="502920" y="4160520"/>
            <a:ext cx="324612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CBD3E0"/>
                </a:solidFill>
              </a:rPr>
              <a:t>The sector with almost no tariff is undergoing the most real structural change. The sector with the highest tariff has the weakest enforcement outcome.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4572000" y="2240280"/>
            <a:ext cx="685800" cy="685800"/>
          </a:xfrm>
          <a:prstGeom prst="ellipse">
            <a:avLst/>
          </a:prstGeom>
          <a:solidFill>
            <a:srgbClr val="D9822B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8012" y="2336292"/>
            <a:ext cx="493776" cy="493776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4343400" y="3108960"/>
            <a:ext cx="324612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</a:rPr>
              <a:t>Look for a scaled domestic supply response as the leading indicator</a:t>
            </a:r>
            <a:endParaRPr lang="en-US" sz="1450" dirty="0"/>
          </a:p>
        </p:txBody>
      </p:sp>
      <p:sp>
        <p:nvSpPr>
          <p:cNvPr id="11" name="Text 7"/>
          <p:cNvSpPr/>
          <p:nvPr/>
        </p:nvSpPr>
        <p:spPr>
          <a:xfrm>
            <a:off x="4343400" y="4160520"/>
            <a:ext cx="324612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CBD3E0"/>
                </a:solidFill>
              </a:rPr>
              <a:t>A single, well-capitalized asset (Dangote) displaced more imports in 18 months than a decade of auto tariffs achieved for local assembly.</a:t>
            </a:r>
            <a:endParaRPr lang="en-US" sz="1250" dirty="0"/>
          </a:p>
        </p:txBody>
      </p:sp>
      <p:sp>
        <p:nvSpPr>
          <p:cNvPr id="12" name="Shape 8"/>
          <p:cNvSpPr/>
          <p:nvPr/>
        </p:nvSpPr>
        <p:spPr>
          <a:xfrm>
            <a:off x="8412480" y="2240280"/>
            <a:ext cx="685800" cy="685800"/>
          </a:xfrm>
          <a:prstGeom prst="ellipse">
            <a:avLst/>
          </a:prstGeom>
          <a:solidFill>
            <a:srgbClr val="D9822B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8492" y="2336292"/>
            <a:ext cx="493776" cy="493776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8183880" y="3108960"/>
            <a:ext cx="324612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</a:rPr>
              <a:t>Treat AfCFTA as immature through 2025-2026, not decisive yet</a:t>
            </a:r>
            <a:endParaRPr lang="en-US" sz="1450" dirty="0"/>
          </a:p>
        </p:txBody>
      </p:sp>
      <p:sp>
        <p:nvSpPr>
          <p:cNvPr id="15" name="Text 10"/>
          <p:cNvSpPr/>
          <p:nvPr/>
        </p:nvSpPr>
        <p:spPr>
          <a:xfrm>
            <a:off x="8183880" y="4160520"/>
            <a:ext cx="324612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CBD3E0"/>
                </a:solidFill>
              </a:rPr>
              <a:t>The schedule was only gazetted in 2025. Nigeria's unilateral tools remain the dominant lever for sector-level forecasting on this horizon.</a:t>
            </a:r>
            <a:endParaRPr lang="en-US" sz="1250" dirty="0"/>
          </a:p>
        </p:txBody>
      </p:sp>
      <p:sp>
        <p:nvSpPr>
          <p:cNvPr id="16" name="Text 11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96A3"/>
                </a:solidFill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8C96A3"/>
                </a:solidFill>
              </a:rPr>
              <a:t>APPENDIX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94944"/>
            <a:ext cx="11247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sourcing and underlying data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48640" y="2103120"/>
            <a:ext cx="914400" cy="914400"/>
          </a:xfrm>
          <a:prstGeom prst="ellipse">
            <a:avLst/>
          </a:prstGeom>
          <a:solidFill>
            <a:srgbClr val="8C96A3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6656" y="2231136"/>
            <a:ext cx="658368" cy="65836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874520" y="2103120"/>
            <a:ext cx="932688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1500" dirty="0">
                <a:solidFill>
                  <a:srgbClr val="3D4759"/>
                </a:solidFill>
              </a:rPr>
              <a:t>Raw research notes &amp; full citations:  data/raw/{petroleum,automobiles,rice,afcfta}/{notes.md,sources.md}</a:t>
            </a:r>
            <a:endParaRPr lang="en-US" sz="1500" dirty="0"/>
          </a:p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1500" dirty="0">
                <a:solidFill>
                  <a:srgbClr val="3D4759"/>
                </a:solidFill>
              </a:rPr>
              <a:t>Structured datasets:  data/processed/*.csv</a:t>
            </a:r>
            <a:endParaRPr lang="en-US" sz="1500" dirty="0"/>
          </a:p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1500" dirty="0">
                <a:solidFill>
                  <a:srgbClr val="3D4759"/>
                </a:solidFill>
              </a:rPr>
              <a:t>Analysis &amp; chart-generation code:  models/{petroleum,automobiles,rice,sector_comparison}_analysis.py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3D4759"/>
                </a:solidFill>
              </a:rPr>
              <a:t>Full paper and investment memo:  paper/nigeria-tariff-policy-paper.md, memo/nigeria-tariff-investment-memo.md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457200" y="644652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8C96A3"/>
                </a:solidFill>
              </a:rPr>
              <a:t>Every figure in this deck traces to a named, dated source. Where sources conflicted, both figures are presented. See appendix notes in the paper.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96A3"/>
                </a:solidFill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Tariffs Without a Strategy</dc:title>
  <dc:subject>PptxGenJS Presentation</dc:subject>
  <dc:creator>Nigeria Tariff Research</dc:creator>
  <cp:lastModifiedBy>Nigeria Tariff Research</cp:lastModifiedBy>
  <cp:revision>1</cp:revision>
  <dcterms:created xsi:type="dcterms:W3CDTF">2026-07-12T19:01:41Z</dcterms:created>
  <dcterms:modified xsi:type="dcterms:W3CDTF">2026-07-12T19:01:41Z</dcterms:modified>
</cp:coreProperties>
</file>