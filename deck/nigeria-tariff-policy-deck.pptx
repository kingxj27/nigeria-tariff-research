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640080"/>
            <a:ext cx="384048" cy="384048"/>
          </a:xfrm>
          <a:prstGeom prst="ellipse">
            <a:avLst/>
          </a:prstGeom>
          <a:solidFill>
            <a:srgbClr val="24365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6407" y="693847"/>
            <a:ext cx="276515" cy="27651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241280" y="640080"/>
            <a:ext cx="384048" cy="384048"/>
          </a:xfrm>
          <a:prstGeom prst="ellipse">
            <a:avLst/>
          </a:prstGeom>
          <a:solidFill>
            <a:srgbClr val="24365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5047" y="693847"/>
            <a:ext cx="276515" cy="27651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0789920" y="640080"/>
            <a:ext cx="384048" cy="384048"/>
          </a:xfrm>
          <a:prstGeom prst="ellipse">
            <a:avLst/>
          </a:prstGeom>
          <a:solidFill>
            <a:srgbClr val="24365C"/>
          </a:solidFill>
          <a:ln/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3687" y="693847"/>
            <a:ext cx="276515" cy="276515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40080" y="23317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822B"/>
                </a:solidFill>
              </a:rPr>
              <a:t>NIGERIA TARIFF POLICY, 2023-2025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594360" y="26974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Tariffs Without a Strategy</a:t>
            </a:r>
            <a:endParaRPr lang="en-US" sz="4400" dirty="0"/>
          </a:p>
        </p:txBody>
      </p:sp>
      <p:sp>
        <p:nvSpPr>
          <p:cNvPr id="10" name="Text 5"/>
          <p:cNvSpPr/>
          <p:nvPr/>
        </p:nvSpPr>
        <p:spPr>
          <a:xfrm>
            <a:off x="640080" y="39776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BD3E0"/>
                </a:solidFill>
              </a:rPr>
              <a:t>Three sectors, three outcomes: refined petroleum, automobiles, and rice under Nigeria's tariff regime</a:t>
            </a:r>
            <a:endParaRPr lang="en-US" sz="1600" dirty="0"/>
          </a:p>
        </p:txBody>
      </p:sp>
      <p:sp>
        <p:nvSpPr>
          <p:cNvPr id="11" name="Text 6"/>
          <p:cNvSpPr/>
          <p:nvPr/>
        </p:nvSpPr>
        <p:spPr>
          <a:xfrm>
            <a:off x="640080" y="6126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6A3"/>
                </a:solidFill>
              </a:rPr>
              <a:t>Comparative case study  • 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22B"/>
                </a:solidFill>
              </a:rPr>
              <a:t>GOVERNING THOUGHT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94944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Tariff level does not predict import-substitution outcome — a credible domestic supply response does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F2F4F7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240280"/>
            <a:ext cx="685800" cy="68580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" y="233629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310896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Refined petroleum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85800" y="361188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</a:rPr>
              <a:t>~0.5% tariff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85800" y="411480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4759"/>
                </a:solidFill>
              </a:rPr>
              <a:t>Fastest substitution — driven by Dangote Refinery, not policy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297680" y="192024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F2F4F7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0" y="2240280"/>
            <a:ext cx="685800" cy="685800"/>
          </a:xfrm>
          <a:prstGeom prst="ellipse">
            <a:avLst/>
          </a:prstGeom>
          <a:solidFill>
            <a:srgbClr val="D9822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2336292"/>
            <a:ext cx="493776" cy="49377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26280" y="310896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Automobiles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526280" y="361188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22B"/>
                </a:solidFill>
              </a:rPr>
              <a:t>35-40% tariff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526280" y="411480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4759"/>
                </a:solidFill>
              </a:rPr>
              <a:t>Heavy protection, only 29.0% aggregate capacity utilization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138160" y="192024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F2F4F7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12480" y="2240280"/>
            <a:ext cx="685800" cy="685800"/>
          </a:xfrm>
          <a:prstGeom prst="ellipse">
            <a:avLst/>
          </a:prstGeom>
          <a:solidFill>
            <a:srgbClr val="3F7A5E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8492" y="2336292"/>
            <a:ext cx="493776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66760" y="310896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Rice / agriculture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8366760" y="361188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F7A5E"/>
                </a:solidFill>
              </a:rPr>
              <a:t>70% tariff</a:t>
            </a:r>
            <a:endParaRPr lang="en-US" sz="2000" dirty="0"/>
          </a:p>
        </p:txBody>
      </p:sp>
      <p:sp>
        <p:nvSpPr>
          <p:cNvPr id="21" name="Text 16"/>
          <p:cNvSpPr/>
          <p:nvPr/>
        </p:nvSpPr>
        <p:spPr>
          <a:xfrm>
            <a:off x="8366760" y="411480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4759"/>
                </a:solidFill>
              </a:rPr>
              <a:t>Heaviest wall, most persistent leakage — top-smuggled commodity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C96A3"/>
                </a:solidFill>
              </a:rPr>
              <a:t>The variable that predicts outcomes is not the tariff line — it's whether a credible domestic supply response exists behind it.</a:t>
            </a:r>
            <a:endParaRPr lang="en-US" sz="800" dirty="0"/>
          </a:p>
        </p:txBody>
      </p:sp>
      <p:sp>
        <p:nvSpPr>
          <p:cNvPr id="23" name="Text 1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6A3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22B"/>
                </a:solidFill>
              </a:rPr>
              <a:t>SECTOR COMPARISON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94944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different policy tools, three different results</a:t>
            </a:r>
            <a:endParaRPr lang="en-US" sz="2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11247120" cy="3291840"/>
        </p:xfrm>
        <a:graphic>
          <a:graphicData uri="http://schemas.openxmlformats.org/drawingml/2006/table">
            <a:tbl>
              <a:tblPr/>
              <a:tblGrid>
                <a:gridCol w="2194560"/>
                <a:gridCol w="1737360"/>
                <a:gridCol w="3840480"/>
                <a:gridCol w="347472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Sector</a:t>
                      </a:r>
                      <a:endParaRPr lang="en-US" sz="130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Effective tariff (2025)</a:t>
                      </a:r>
                      <a:endParaRPr lang="en-US" sz="130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Primary policy tool</a:t>
                      </a:r>
                      <a:endParaRPr lang="en-US" sz="130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Outcome</a:t>
                      </a:r>
                      <a:endParaRPr lang="en-US" sz="130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</a:rPr>
                        <a:t>Refined petroleum</a:t>
                      </a:r>
                      <a:endParaRPr lang="en-US" sz="125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~0.5%</a:t>
                      </a:r>
                      <a:endParaRPr lang="en-US" sz="125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Signaling — approved-then-suspended duty, import license halts</a:t>
                      </a:r>
                      <a:endParaRPr lang="en-US" sz="125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Fastest import substitution, via Dangote Refinery not tariff</a:t>
                      </a:r>
                      <a:endParaRPr lang="en-US" sz="125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</a:rPr>
                        <a:t>Automobiles</a:t>
                      </a:r>
                      <a:endParaRPr lang="en-US" sz="125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35-40%</a:t>
                      </a:r>
                      <a:endParaRPr lang="en-US" sz="125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Sustained tariff differential (fully-built vs. CKD/SKD)</a:t>
                      </a:r>
                      <a:endParaRPr lang="en-US" sz="125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Protection without competitiveness — 29.0% aggregate utilization</a:t>
                      </a:r>
                      <a:endParaRPr lang="en-US" sz="125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</a:rPr>
                        <a:t>Rice / agriculture</a:t>
                      </a:r>
                      <a:endParaRPr lang="en-US" sz="125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70%</a:t>
                      </a:r>
                      <a:endParaRPr lang="en-US" sz="125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Sustained high tariff + intermittent bans/waivers</a:t>
                      </a:r>
                      <a:endParaRPr lang="en-US" sz="125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Heaviest wall, most persistent leakage — top-smuggled commodity</a:t>
                      </a:r>
                      <a:endParaRPr lang="en-US" sz="1250" dirty="0"/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C96A3"/>
                </a:solidFill>
              </a:rPr>
              <a:t>Full sourcing: data/raw/{petroleum,automobiles,rice}/sources.md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6A3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B2A4A"/>
                </a:solidFill>
              </a:rPr>
              <a:t>CASE I · REFINED PETROLEUM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94944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tariff, fastest substitution — Dangote Refinery is doing what policy didn't</a:t>
            </a:r>
            <a:endParaRPr lang="en-US" sz="2500" dirty="0"/>
          </a:p>
        </p:txBody>
      </p:sp>
      <p:pic>
        <p:nvPicPr>
          <p:cNvPr id="4" name="Image 0" descr="C:\Users\HP\nigeria-tariff-research\outputs\charts\petroleum_pms_import_value_annu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828800"/>
            <a:ext cx="694944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35240" y="1920240"/>
            <a:ext cx="40690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3D4759"/>
                </a:solidFill>
              </a:rPr>
              <a:t>Petrol import bill fell 42% in 2025 (₦15.42tn → ₦8.96tn) as Dangote reached ~85% utilization of its 650,000 bpd refinery</a:t>
            </a:r>
            <a:endParaRPr lang="en-US" sz="13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3D4759"/>
                </a:solidFill>
              </a:rPr>
              <a:t>The only dedicated petroleum tariff of the period — a 15% duty — was approved 21 Oct 2025 and suspended 13 Nov 2025, before ever taking effect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D4759"/>
                </a:solidFill>
              </a:rPr>
              <a:t>2024's naira-value spike (+105%) is substantially a currency story: the naira depreciated 40.9% that year, not a volume story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C96A3"/>
                </a:solidFill>
              </a:rPr>
              <a:t>Source: NBS Foreign Trade Statistics via Nairametrics/Businessday/Daily Trust, 2025-2026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6A3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B2A4A"/>
                </a:solidFill>
              </a:rPr>
              <a:t>CASE I · REFINED PETROLEUM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94944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substitution mechanism is real, but institutionally fragile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3520440" cy="3017520"/>
          </a:xfrm>
          <a:prstGeom prst="roundRect">
            <a:avLst>
              <a:gd name="adj" fmla="val 2424"/>
            </a:avLst>
          </a:prstGeom>
          <a:solidFill>
            <a:srgbClr val="F2F4F7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33172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</a:rPr>
              <a:t>82M barrels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4759"/>
                </a:solidFill>
              </a:rPr>
              <a:t>allocated to Dangote Oct 2024-Oct 2025 under the naira-for-crude deal, 60% naira-denominated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97680" y="2011680"/>
            <a:ext cx="3520440" cy="3017520"/>
          </a:xfrm>
          <a:prstGeom prst="roundRect">
            <a:avLst>
              <a:gd name="adj" fmla="val 2424"/>
            </a:avLst>
          </a:prstGeom>
          <a:solidFill>
            <a:srgbClr val="F2F4F7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233172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</a:rPr>
              <a:t>3 weeks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0" y="320040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4759"/>
                </a:solidFill>
              </a:rPr>
              <a:t>how long the Oct 2025 15% import duty survived before being suspended amid industry pushback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2011680"/>
            <a:ext cx="3520440" cy="3017520"/>
          </a:xfrm>
          <a:prstGeom prst="roundRect">
            <a:avLst>
              <a:gd name="adj" fmla="val 2424"/>
            </a:avLst>
          </a:prstGeom>
          <a:solidFill>
            <a:srgbClr val="F2F4F7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412480" y="233172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</a:rPr>
              <a:t>~79.5M barrel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412480" y="320040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4759"/>
                </a:solidFill>
              </a:rPr>
              <a:t>reported NNPC supply shortfall to Dangote, Oct 2025-mid 2026 — and an active Dangote lawsuit disputing import-license enforcement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D9822B"/>
                </a:solidFill>
              </a:rPr>
              <a:t>Read this as “genuine structural shift, immature governance” — not a settled outcome.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C96A3"/>
                </a:solidFill>
              </a:rPr>
              <a:t>Sources: Nairametrics, Punch, ICIR Nigeria, Authority News, 2025-2026 — see data/raw/petroleum/sources.md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6A3"/>
                </a:solidFill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22B"/>
                </a:solidFill>
              </a:rPr>
              <a:t>CASE II · AUTOMOBILES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94944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textbook tariff wall (0-40%) that hasn't produced scale</a:t>
            </a:r>
            <a:endParaRPr lang="en-US" sz="2500" dirty="0"/>
          </a:p>
        </p:txBody>
      </p:sp>
      <p:pic>
        <p:nvPicPr>
          <p:cNvPr id="4" name="Image 0" descr="C:\Users\HP\nigeria-tariff-research\outputs\charts\automobiles_tariff_differenti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874520"/>
            <a:ext cx="5394960" cy="4434840"/>
          </a:xfrm>
          <a:prstGeom prst="rect">
            <a:avLst/>
          </a:prstGeom>
        </p:spPr>
      </p:pic>
      <p:pic>
        <p:nvPicPr>
          <p:cNvPr id="5" name="Image 1" descr="C:\Users\HP\nigeria-tariff-research\outputs\charts\automobiles_naddc_utilizat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989320" y="1691640"/>
            <a:ext cx="5715000" cy="47091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C96A3"/>
                </a:solidFill>
              </a:rPr>
              <a:t>Source: trade.gov Nigeria Import Tariffs; NADDC, April 2024 — aggregate utilization verified at 29.0% (93,950 / 323,650 units/year)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6A3"/>
                </a:solidFill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22B"/>
                </a:solidFill>
              </a:rPr>
              <a:t>CASE II · AUTOMOBILES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94944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policy has never had the force of law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1005840" cy="1005840"/>
          </a:xfrm>
          <a:prstGeom prst="ellipse">
            <a:avLst/>
          </a:prstGeom>
          <a:solidFill>
            <a:srgbClr val="D9822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9458" y="2198218"/>
            <a:ext cx="724205" cy="72420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74520" y="1874520"/>
            <a:ext cx="6035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3D4759"/>
                </a:solidFill>
              </a:rPr>
              <a:t>The revised NAIDP was approved by Federal Executive Council in May 2023 — an executive plan, not a statute</a:t>
            </a:r>
            <a:endParaRPr lang="en-US" sz="145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3D4759"/>
                </a:solidFill>
              </a:rPr>
              <a:t>The original NAIDP's ten-year statutory term lapsed in 2024; a successor 2024-2034 framework still awaited legal drafting as of March 2025</a:t>
            </a:r>
            <a:endParaRPr lang="en-US" sz="145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3D4759"/>
                </a:solidFill>
              </a:rPr>
              <a:t>As of October 2025, stakeholders — including NADDC's own Director-General — were still demanding passage of a “NAIDP Bill”</a:t>
            </a:r>
            <a:endParaRPr lang="en-US" sz="1450" dirty="0"/>
          </a:p>
          <a:p>
            <a:pPr marL="342900" indent="-342900">
              <a:buSzPct val="100000"/>
              <a:buChar char="•"/>
            </a:pPr>
            <a:r>
              <a:rPr lang="en-US" sz="1450" dirty="0">
                <a:solidFill>
                  <a:srgbClr val="3D4759"/>
                </a:solidFill>
              </a:rPr>
              <a:t>20 of 58 historically licensed assemblers had suspended operations by March 2025 (~$89.6M in stranded investment)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8229600" y="21031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1B2A4A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0" y="237744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</a:rPr>
              <a:t>“Nobody wants to commit serious capital to the auto industry without adequate laws to protect their investments.”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503920" y="42062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C"/>
                </a:solidFill>
              </a:rPr>
              <a:t>— Joseph Osanipin, NADDC Director-General, Oct 2025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C96A3"/>
                </a:solidFill>
              </a:rPr>
              <a:t>Sources: The Guardian Nigeria, 27 Mar 2025; Vanguard, 10 Oct 2025 — see data/raw/automobiles/sources.md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6A3"/>
                </a:solidFill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F7A5E"/>
                </a:solidFill>
              </a:rPr>
              <a:t>CASE III · RICE / AGRICULTURE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94944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heaviest tariff, and the most persistent leakage</a:t>
            </a:r>
            <a:endParaRPr lang="en-US" sz="2500" dirty="0"/>
          </a:p>
        </p:txBody>
      </p:sp>
      <p:pic>
        <p:nvPicPr>
          <p:cNvPr id="4" name="Image 0" descr="C:\Users\HP\nigeria-tariff-research\outputs\charts\rice_production_vs_impor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828800"/>
            <a:ext cx="694944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35240" y="1920240"/>
            <a:ext cx="40690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3D4759"/>
                </a:solidFill>
              </a:rPr>
              <a:t>70% combined duty + levy — among the heaviest in Nigeria's tariff schedule, roughly stable since 2013</a:t>
            </a:r>
            <a:endParaRPr lang="en-US" sz="13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3D4759"/>
                </a:solidFill>
              </a:rPr>
              <a:t>Rice was the single most-smuggled commodity through Nigerian Customs in Q1 2025: 159 cases, 135,474 bags, ₦939M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D4759"/>
                </a:solidFill>
              </a:rPr>
              <a:t>The 2019 land-border closure remains only partially reversed — rice stayed formally banned even after Dec 2020 reopening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C96A3"/>
                </a:solidFill>
              </a:rPr>
              <a:t>Sources: USDA FAS Grain and Feed Annual, 13 Mar 2024; PRNigeria, 24 Apr 2025 — see data/raw/rice/sources.md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6A3"/>
                </a:solidFill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22B"/>
                </a:solidFill>
              </a:rPr>
              <a:t>SYNTHESIS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94944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Tariff level is inversely related to substitution outcome across all 3 sectors</a:t>
            </a:r>
            <a:endParaRPr lang="en-US" sz="2500" dirty="0"/>
          </a:p>
        </p:txBody>
      </p:sp>
      <p:pic>
        <p:nvPicPr>
          <p:cNvPr id="4" name="Image 0" descr="C:\Users\HP\nigeria-tariff-research\outputs\charts\sector_comparison_effective_tariff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331720" y="1783080"/>
            <a:ext cx="7498080" cy="4297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C96A3"/>
                </a:solidFill>
              </a:rPr>
              <a:t>Source: see data/raw/{petroleum,automobiles,rice}/sources.md for underlying citations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6A3"/>
                </a:solidFill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F7A5E"/>
                </a:solidFill>
              </a:rPr>
              <a:t>THE AFCFTA QUESTION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94944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without a clear test — well-evidenced only for rice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914400" cy="914400"/>
          </a:xfrm>
          <a:prstGeom prst="ellipse">
            <a:avLst/>
          </a:prstGeom>
          <a:solidFill>
            <a:srgbClr val="3F7A5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2139696"/>
            <a:ext cx="658368" cy="6583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288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7A5E"/>
                </a:solidFill>
              </a:rPr>
              <a:t>Clear finding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828800" y="237744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759"/>
                </a:solidFill>
              </a:rPr>
              <a:t>Rice sits on Nigeria's AfCFTA exclusion / long-timeline “sensitive” list, alongside flour, sugar, and cement — consistent with decades of food-security-driven protection.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92240" y="2011680"/>
            <a:ext cx="914400" cy="914400"/>
          </a:xfrm>
          <a:prstGeom prst="ellipse">
            <a:avLst/>
          </a:prstGeom>
          <a:solidFill>
            <a:srgbClr val="8C96A3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56" y="2139696"/>
            <a:ext cx="658368" cy="6583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772400" y="19659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96A3"/>
                </a:solidFill>
              </a:rPr>
              <a:t>Important non-finding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772400" y="2377440"/>
            <a:ext cx="39319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759"/>
                </a:solidFill>
              </a:rPr>
              <a:t>No source — primary or secondary — states where refined petroleum or automobiles sit on Nigeria's AfCFTA schedule. A clean 3-sector AfCFTA comparison cannot be made with confidence.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57200" y="3977640"/>
            <a:ext cx="11247120" cy="0"/>
          </a:xfrm>
          <a:prstGeom prst="line">
            <a:avLst/>
          </a:prstGeom>
          <a:noFill/>
          <a:ln w="12700">
            <a:solidFill>
              <a:srgbClr val="E2E5EA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57200" y="4297680"/>
            <a:ext cx="11247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1B2A4A"/>
                </a:solidFill>
              </a:rPr>
              <a:t>Nigeria gazetted its AfCFTA tariff schedule only in 2025 — six years after signing. Within the 2023-2025 window, unilateral tools (subsidy policy, import bans, forex allocation) are doing far more work shaping sector outcomes than AfCFTA commitments.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C96A3"/>
                </a:solidFill>
              </a:rPr>
              <a:t>Sources: Boysen (2024), The World Economy; WTO Trade Policy Review — Nigeria, Nov 2024; ITRC, 16 Apr 2025 — see data/raw/afcfta/sources.md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6A3"/>
                </a:solidFill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22B"/>
                </a:solidFill>
              </a:rPr>
              <a:t>IMPLICATIONS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takeaways for reading Nigeria as a market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31520" y="2240280"/>
            <a:ext cx="685800" cy="685800"/>
          </a:xfrm>
          <a:prstGeom prst="ellipse">
            <a:avLst/>
          </a:prstGeom>
          <a:solidFill>
            <a:srgbClr val="D9822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" y="2336292"/>
            <a:ext cx="493776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310896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Don't read tariff schedules as a proxy for policy seriousness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02920" y="4160520"/>
            <a:ext cx="32461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BD3E0"/>
                </a:solidFill>
              </a:rPr>
              <a:t>The sector with almost no tariff is undergoing the most real structural change; the sector with the highest tariff has the weakest enforcement outcome.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0" y="2240280"/>
            <a:ext cx="685800" cy="685800"/>
          </a:xfrm>
          <a:prstGeom prst="ellipse">
            <a:avLst/>
          </a:prstGeom>
          <a:solidFill>
            <a:srgbClr val="D9822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2336292"/>
            <a:ext cx="493776" cy="4937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343400" y="310896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Look for a scaled domestic supply response as the leading indicator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4343400" y="4160520"/>
            <a:ext cx="32461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BD3E0"/>
                </a:solidFill>
              </a:rPr>
              <a:t>A single, well-capitalized asset (Dangote) displaced more imports in 18 months than a decade of auto tariffs achieved for local assembly.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412480" y="2240280"/>
            <a:ext cx="685800" cy="685800"/>
          </a:xfrm>
          <a:prstGeom prst="ellipse">
            <a:avLst/>
          </a:prstGeom>
          <a:solidFill>
            <a:srgbClr val="D9822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8492" y="2336292"/>
            <a:ext cx="493776" cy="4937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83880" y="310896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Treat AfCFTA as immature, not decisive, through 2025-2026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8183880" y="4160520"/>
            <a:ext cx="32461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BD3E0"/>
                </a:solidFill>
              </a:rPr>
              <a:t>The schedule was only gazetted in 2025. Nigeria's unilateral tools remain the dominant lever for sector-level forecasting on this horizon.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6A3"/>
                </a:solidFill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C96A3"/>
                </a:solidFill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94944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sourcing and underlying data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914400" cy="914400"/>
          </a:xfrm>
          <a:prstGeom prst="ellipse">
            <a:avLst/>
          </a:prstGeom>
          <a:solidFill>
            <a:srgbClr val="8C96A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2231136"/>
            <a:ext cx="658368" cy="6583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74520" y="2103120"/>
            <a:ext cx="93268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3D4759"/>
                </a:solidFill>
              </a:rPr>
              <a:t>Raw research notes &amp; full citations:  data/raw/{petroleum,automobiles,rice,afcfta}/{notes.md,sources.md}</a:t>
            </a:r>
            <a:endParaRPr lang="en-US" sz="15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3D4759"/>
                </a:solidFill>
              </a:rPr>
              <a:t>Structured datasets:  data/processed/*.csv</a:t>
            </a:r>
            <a:endParaRPr lang="en-US" sz="15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3D4759"/>
                </a:solidFill>
              </a:rPr>
              <a:t>Analysis &amp; chart-generation code:  models/{petroleum,automobiles,rice,sector_comparison}_analysis.py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D4759"/>
                </a:solidFill>
              </a:rPr>
              <a:t>Full paper and investment memo:  paper/nigeria-tariff-policy-paper.md, memo/nigeria-tariff-investment-memo.md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C96A3"/>
                </a:solidFill>
              </a:rPr>
              <a:t>Every figure in this deck traces to a named, dated source. Where sources conflicted, both figures are presented — see appendix notes in the paper.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6A3"/>
                </a:solidFill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Tariffs Without a Strategy</dc:title>
  <dc:subject>PptxGenJS Presentation</dc:subject>
  <dc:creator>Nigeria Tariff Research</dc:creator>
  <cp:lastModifiedBy>Nigeria Tariff Research</cp:lastModifiedBy>
  <cp:revision>1</cp:revision>
  <dcterms:created xsi:type="dcterms:W3CDTF">2026-07-07T17:03:29Z</dcterms:created>
  <dcterms:modified xsi:type="dcterms:W3CDTF">2026-07-07T17:03:29Z</dcterms:modified>
</cp:coreProperties>
</file>